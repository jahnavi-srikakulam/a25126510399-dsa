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lmjahnavi@gmail.com" userId="4fdb157896a55988" providerId="LiveId" clId="{8A38AE67-924F-4FF5-BA04-AF104B6AB440}"/>
    <pc:docChg chg="modSld">
      <pc:chgData name="sklmjahnavi@gmail.com" userId="4fdb157896a55988" providerId="LiveId" clId="{8A38AE67-924F-4FF5-BA04-AF104B6AB440}" dt="2026-10-09T01:18:55.728" v="3" actId="14100"/>
      <pc:docMkLst>
        <pc:docMk/>
      </pc:docMkLst>
      <pc:sldChg chg="modSp mod">
        <pc:chgData name="sklmjahnavi@gmail.com" userId="4fdb157896a55988" providerId="LiveId" clId="{8A38AE67-924F-4FF5-BA04-AF104B6AB440}" dt="2026-10-09T01:18:55.728" v="3" actId="14100"/>
        <pc:sldMkLst>
          <pc:docMk/>
          <pc:sldMk cId="0" sldId="256"/>
        </pc:sldMkLst>
        <pc:spChg chg="mod">
          <ac:chgData name="sklmjahnavi@gmail.com" userId="4fdb157896a55988" providerId="LiveId" clId="{8A38AE67-924F-4FF5-BA04-AF104B6AB440}" dt="2026-10-09T01:18:55.728" v="3" actId="14100"/>
          <ac:spMkLst>
            <pc:docMk/>
            <pc:sldMk cId="0" sldId="256"/>
            <ac:spMk id="11" creationId="{3E3FCC35-390A-979D-BC78-7B92754D48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F64DB-E6E1-47FA-9EF7-07A8DF9A50FF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7E6CE-EFB4-47D3-98EA-C5739FBCD3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41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7E6CE-EFB4-47D3-98EA-C5739FBCD37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417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" cy="438912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097280"/>
            <a:ext cx="7702173" cy="12157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LIBRARY BOOK MANAGEMENT SYSTEM</a:t>
            </a:r>
          </a:p>
          <a:p>
            <a:pPr>
              <a:spcBef>
                <a:spcPts val="1200"/>
              </a:spcBef>
              <a:defRPr sz="2700">
                <a:solidFill>
                  <a:srgbClr val="AAD2F0"/>
                </a:solidFill>
              </a:defRPr>
            </a:pPr>
            <a:r>
              <a:rPr dirty="0"/>
              <a:t>Using Binary Search Tree</a:t>
            </a:r>
            <a:r>
              <a:rPr lang="en-US" dirty="0"/>
              <a:t>s</a:t>
            </a:r>
            <a:r>
              <a:rPr dirty="0"/>
              <a:t> (BST)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B155EF-3EFC-AC8B-F16D-228E6377E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652346"/>
              </p:ext>
            </p:extLst>
          </p:nvPr>
        </p:nvGraphicFramePr>
        <p:xfrm>
          <a:off x="1258529" y="2743201"/>
          <a:ext cx="5976440" cy="1455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220">
                  <a:extLst>
                    <a:ext uri="{9D8B030D-6E8A-4147-A177-3AD203B41FA5}">
                      <a16:colId xmlns:a16="http://schemas.microsoft.com/office/drawing/2014/main" val="2090178444"/>
                    </a:ext>
                  </a:extLst>
                </a:gridCol>
                <a:gridCol w="2988220">
                  <a:extLst>
                    <a:ext uri="{9D8B030D-6E8A-4147-A177-3AD203B41FA5}">
                      <a16:colId xmlns:a16="http://schemas.microsoft.com/office/drawing/2014/main" val="824361971"/>
                    </a:ext>
                  </a:extLst>
                </a:gridCol>
              </a:tblGrid>
              <a:tr h="537736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147841"/>
                  </a:ext>
                </a:extLst>
              </a:tr>
              <a:tr h="537736">
                <a:tc>
                  <a:txBody>
                    <a:bodyPr/>
                    <a:lstStyle/>
                    <a:p>
                      <a:r>
                        <a:rPr lang="en-US" dirty="0"/>
                        <a:t>A25126510398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S.YAMINI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00115"/>
                  </a:ext>
                </a:extLst>
              </a:tr>
              <a:tr h="379702">
                <a:tc>
                  <a:txBody>
                    <a:bodyPr/>
                    <a:lstStyle/>
                    <a:p>
                      <a:r>
                        <a:rPr lang="en-US" dirty="0"/>
                        <a:t>A25126510399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S.JAHNAVI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21468"/>
                  </a:ext>
                </a:extLst>
              </a:tr>
            </a:tbl>
          </a:graphicData>
        </a:graphic>
      </p:graphicFrame>
      <p:pic>
        <p:nvPicPr>
          <p:cNvPr id="10" name="Picture 9" descr="Stack of books on black background - Free Photo on Unsplash">
            <a:extLst>
              <a:ext uri="{FF2B5EF4-FFF2-40B4-BE49-F238E27FC236}">
                <a16:creationId xmlns:a16="http://schemas.microsoft.com/office/drawing/2014/main" id="{A25B1045-69D8-5DB9-14AF-5DC03AC56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150" y="1258529"/>
            <a:ext cx="3155850" cy="559947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E3FCC35-390A-979D-BC78-7B92754D4837}"/>
              </a:ext>
            </a:extLst>
          </p:cNvPr>
          <p:cNvSpPr/>
          <p:nvPr/>
        </p:nvSpPr>
        <p:spPr>
          <a:xfrm>
            <a:off x="9146925" y="1333092"/>
            <a:ext cx="730473" cy="4367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dirty="0"/>
              <a:t>CSE-A</a:t>
            </a:r>
            <a:endParaRPr lang="en-IN" sz="10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2451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lang="en-US" dirty="0"/>
              <a:t>  </a:t>
            </a:r>
            <a:r>
              <a:rPr dirty="0"/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1074072" cy="457048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</a:t>
            </a:r>
            <a:r>
              <a:rPr dirty="0"/>
              <a:t> </a:t>
            </a:r>
            <a:r>
              <a:rPr sz="2400" dirty="0"/>
              <a:t>Manual management of book records becomes difficult </a:t>
            </a:r>
            <a:endParaRPr lang="en-US" sz="2400" dirty="0"/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lang="en-IN" sz="2400" dirty="0"/>
              <a:t>    </a:t>
            </a:r>
            <a:r>
              <a:rPr sz="2400" dirty="0"/>
              <a:t>as the number of books increases.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Searching for a particular book may require </a:t>
            </a:r>
            <a:endParaRPr lang="en-US" sz="2400" dirty="0"/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lang="en-US" sz="2400" dirty="0"/>
              <a:t>   </a:t>
            </a:r>
            <a:r>
              <a:rPr sz="2400" dirty="0"/>
              <a:t>checking records sequentially.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Maintaining sorted records manually requires additional effort.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The proposed system uses a </a:t>
            </a:r>
            <a:r>
              <a:rPr sz="2400" b="1" dirty="0"/>
              <a:t>Binary Search Tree</a:t>
            </a:r>
            <a:endParaRPr lang="en-US" sz="2400" b="1" dirty="0"/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lang="en-IN" sz="2400" dirty="0"/>
              <a:t>   </a:t>
            </a:r>
            <a:r>
              <a:rPr sz="2400" dirty="0"/>
              <a:t> to store and organize books dynamically.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The system supports insertion, searching, deletion and sorted display.</a:t>
            </a:r>
            <a:endParaRPr lang="en-US" sz="2400" dirty="0"/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F8BAFD-8259-5D0B-B66A-B08E9D88F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671" y="1827325"/>
            <a:ext cx="2654710" cy="28331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21262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lang="en-US" dirty="0"/>
              <a:t> </a:t>
            </a:r>
            <a:r>
              <a:rPr dirty="0"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031873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• Library Book Management System is a console-based </a:t>
            </a:r>
            <a:endParaRPr lang="en-US" sz="2800" dirty="0"/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lang="en-IN" sz="2800" dirty="0"/>
              <a:t>   </a:t>
            </a:r>
            <a:r>
              <a:rPr sz="2800" dirty="0"/>
              <a:t>C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• Each book is represented by a dynamically allocated </a:t>
            </a:r>
            <a:endParaRPr lang="en-US" sz="2800" dirty="0"/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lang="en-IN" sz="2800" dirty="0"/>
              <a:t>   </a:t>
            </a:r>
            <a:r>
              <a:rPr sz="2800" dirty="0"/>
              <a:t>BST node.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• Book ID is used as the unique BST key.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• BST comparisons direct the search to the left or right subtree.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Inorder</a:t>
            </a:r>
            <a:r>
              <a:rPr sz="2800" dirty="0"/>
              <a:t> traversal displays books in ascending order of Book ID.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B6C962-768C-FD1C-EF16-E08796BCC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17" y="1325880"/>
            <a:ext cx="2990235" cy="29607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9093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lang="en-US" dirty="0"/>
              <a:t>  </a:t>
            </a:r>
            <a:r>
              <a:rPr dirty="0"/>
              <a:t>Objectives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9E0278-8570-BA8D-C6FC-2B8892AEA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936044"/>
              </p:ext>
            </p:extLst>
          </p:nvPr>
        </p:nvGraphicFramePr>
        <p:xfrm>
          <a:off x="2032000" y="4434348"/>
          <a:ext cx="8128000" cy="678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66671044"/>
                    </a:ext>
                  </a:extLst>
                </a:gridCol>
              </a:tblGrid>
              <a:tr h="678426">
                <a:tc>
                  <a:txBody>
                    <a:bodyPr/>
                    <a:lstStyle/>
                    <a:p>
                      <a:r>
                        <a:rPr lang="en-US" sz="2800" dirty="0"/>
                        <a:t>  Improve user experience and increase accessibility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1591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83B479-F5E3-B5D4-16ED-1BA9434D6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310929"/>
              </p:ext>
            </p:extLst>
          </p:nvPr>
        </p:nvGraphicFramePr>
        <p:xfrm>
          <a:off x="2032000" y="3303638"/>
          <a:ext cx="8128000" cy="678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956522308"/>
                    </a:ext>
                  </a:extLst>
                </a:gridCol>
              </a:tblGrid>
              <a:tr h="678426">
                <a:tc>
                  <a:txBody>
                    <a:bodyPr/>
                    <a:lstStyle/>
                    <a:p>
                      <a:r>
                        <a:rPr lang="en-US" sz="2800" dirty="0"/>
                        <a:t>     Provides easy and efficient book management 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8320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8066C0-2D2C-E218-8A0A-8CF75FEC0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045486"/>
              </p:ext>
            </p:extLst>
          </p:nvPr>
        </p:nvGraphicFramePr>
        <p:xfrm>
          <a:off x="2032000" y="2172928"/>
          <a:ext cx="8128000" cy="67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11546640"/>
                    </a:ext>
                  </a:extLst>
                </a:gridCol>
              </a:tblGrid>
              <a:tr h="678425">
                <a:tc>
                  <a:txBody>
                    <a:bodyPr/>
                    <a:lstStyle/>
                    <a:p>
                      <a:r>
                        <a:rPr lang="en-US" sz="2800" dirty="0"/>
                        <a:t>              Reduce manual work and saves time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261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139D529-FA9E-85B2-3FBE-B0E0EFCF5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417232"/>
              </p:ext>
            </p:extLst>
          </p:nvPr>
        </p:nvGraphicFramePr>
        <p:xfrm>
          <a:off x="2032000" y="1042217"/>
          <a:ext cx="8128000" cy="67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927124461"/>
                    </a:ext>
                  </a:extLst>
                </a:gridCol>
              </a:tblGrid>
              <a:tr h="678425">
                <a:tc>
                  <a:txBody>
                    <a:bodyPr/>
                    <a:lstStyle/>
                    <a:p>
                      <a:r>
                        <a:rPr lang="en-US" sz="2800" dirty="0"/>
                        <a:t>                    Automate Library Operations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044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Features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44709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📚  Add Book — stores Book ID, title and author.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🔎</a:t>
            </a:r>
            <a:r>
              <a:rPr lang="en-US" sz="2800" dirty="0"/>
              <a:t>  </a:t>
            </a:r>
            <a:r>
              <a:rPr sz="2800" dirty="0"/>
              <a:t>Search Book — finds a book using its Book ID.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lang="en-US" sz="2800" dirty="0"/>
              <a:t> </a:t>
            </a:r>
            <a:r>
              <a:rPr sz="2800" dirty="0"/>
              <a:t>🗑  </a:t>
            </a:r>
            <a:r>
              <a:rPr lang="en-US" sz="2800" dirty="0"/>
              <a:t>  </a:t>
            </a:r>
            <a:r>
              <a:rPr sz="2800" dirty="0"/>
              <a:t>Delete Book — removes a book from the BST.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📋  Display All Books — uses </a:t>
            </a:r>
            <a:r>
              <a:rPr sz="2800" dirty="0" err="1"/>
              <a:t>inorder</a:t>
            </a:r>
            <a:r>
              <a:rPr sz="2800" dirty="0"/>
              <a:t> traversal for sorted IDs.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📤  Issue Book — changes status from Available to Issued.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sz="2800" dirty="0"/>
              <a:t>📥  Return Book — changes status from Issued to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517064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Programming Language: C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Data Structure: Binary Search Tree (BST)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endParaRPr sz="2400" dirty="0"/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lang="en-US" sz="2400" b="1" dirty="0"/>
              <a:t> </a:t>
            </a:r>
            <a:r>
              <a:rPr sz="2400" b="1" dirty="0"/>
              <a:t>DSA Concepts: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Structures and pointers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Dynamic memory allocation using malloc()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Recursion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Tree traversal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Searching, insertion and deletion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• String handling and console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System Design – BST Node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1038" y="4876799"/>
            <a:ext cx="10515600" cy="95410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800" dirty="0"/>
              <a:t>BST rule: left subtree </a:t>
            </a:r>
            <a:r>
              <a:rPr lang="en-US" sz="2800" dirty="0"/>
              <a:t>&lt;</a:t>
            </a:r>
            <a:r>
              <a:rPr sz="2800" dirty="0"/>
              <a:t> current ID </a:t>
            </a:r>
            <a:r>
              <a:rPr lang="en-US" sz="2800" dirty="0"/>
              <a:t>&lt; </a:t>
            </a:r>
            <a:r>
              <a:rPr sz="2800" dirty="0"/>
              <a:t>right subtree.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1E8518-705B-BA14-585B-BE829B4EB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361" y="1496186"/>
            <a:ext cx="6515100" cy="33806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4740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dirty="0"/>
              <a:t>Functions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9" y="1129235"/>
            <a:ext cx="10789919" cy="5632311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r>
              <a:rPr lang="en-IN" sz="2400" dirty="0"/>
              <a:t>📖 </a:t>
            </a:r>
            <a:r>
              <a:rPr lang="en-IN" sz="2400" b="1" dirty="0"/>
              <a:t>createBook()</a:t>
            </a:r>
            <a:r>
              <a:rPr lang="en-IN" sz="2400" dirty="0"/>
              <a:t> – Creates a new book node.</a:t>
            </a:r>
          </a:p>
          <a:p>
            <a:endParaRPr lang="en-IN" sz="2400" dirty="0"/>
          </a:p>
          <a:p>
            <a:r>
              <a:rPr lang="en-IN" sz="2400" dirty="0"/>
              <a:t>📕 </a:t>
            </a:r>
            <a:r>
              <a:rPr lang="en-IN" sz="2400" b="1" dirty="0"/>
              <a:t>insertBook()</a:t>
            </a:r>
            <a:r>
              <a:rPr lang="en-IN" sz="2400" dirty="0"/>
              <a:t> – Inserts a book based on Book ID.</a:t>
            </a:r>
          </a:p>
          <a:p>
            <a:endParaRPr lang="en-IN" sz="2400" dirty="0"/>
          </a:p>
          <a:p>
            <a:r>
              <a:rPr lang="en-IN" sz="2400" dirty="0"/>
              <a:t>🔍 </a:t>
            </a:r>
            <a:r>
              <a:rPr lang="en-IN" sz="2400" b="1" dirty="0"/>
              <a:t>searchBook()</a:t>
            </a:r>
            <a:r>
              <a:rPr lang="en-IN" sz="2400" dirty="0"/>
              <a:t> – Searches for a Book ID recursively.</a:t>
            </a:r>
          </a:p>
          <a:p>
            <a:endParaRPr lang="en-IN" sz="2400" dirty="0"/>
          </a:p>
          <a:p>
            <a:r>
              <a:rPr lang="en-IN" sz="2400" dirty="0"/>
              <a:t>📘 </a:t>
            </a:r>
            <a:r>
              <a:rPr lang="en-IN" sz="2400" b="1" dirty="0"/>
              <a:t>findMin()</a:t>
            </a:r>
            <a:r>
              <a:rPr lang="en-IN" sz="2400" dirty="0"/>
              <a:t> – Finds the smallest Book ID.</a:t>
            </a:r>
          </a:p>
          <a:p>
            <a:endParaRPr lang="en-IN" sz="2400" dirty="0"/>
          </a:p>
          <a:p>
            <a:r>
              <a:rPr lang="en-IN" sz="2400" dirty="0"/>
              <a:t>🗑️ </a:t>
            </a:r>
            <a:r>
              <a:rPr lang="en-IN" sz="2400" b="1" dirty="0"/>
              <a:t>deleteBook()</a:t>
            </a:r>
            <a:r>
              <a:rPr lang="en-IN" sz="2400" dirty="0"/>
              <a:t> – Deletes a book from the BST.</a:t>
            </a:r>
          </a:p>
          <a:p>
            <a:endParaRPr lang="en-IN" sz="2400" dirty="0"/>
          </a:p>
          <a:p>
            <a:r>
              <a:rPr lang="en-IN" sz="2400" dirty="0"/>
              <a:t>📚 </a:t>
            </a:r>
            <a:r>
              <a:rPr lang="en-IN" sz="2400" b="1" dirty="0"/>
              <a:t>displayAll() / inorder()</a:t>
            </a:r>
            <a:r>
              <a:rPr lang="en-IN" sz="2400" dirty="0"/>
              <a:t> – Displays books in sorted ID order.</a:t>
            </a:r>
          </a:p>
          <a:p>
            <a:endParaRPr lang="en-IN" sz="2400" dirty="0"/>
          </a:p>
          <a:p>
            <a:r>
              <a:rPr lang="en-IN" sz="2400" dirty="0"/>
              <a:t>🔄 </a:t>
            </a:r>
            <a:r>
              <a:rPr lang="en-IN" sz="2400" b="1" dirty="0"/>
              <a:t>issueBook() / returnBook()</a:t>
            </a:r>
            <a:r>
              <a:rPr lang="en-IN" sz="2400" dirty="0"/>
              <a:t> – Updates book availability.</a:t>
            </a:r>
          </a:p>
          <a:p>
            <a:endParaRPr lang="en-IN" sz="2400" dirty="0"/>
          </a:p>
          <a:p>
            <a:r>
              <a:rPr lang="en-IN" sz="2400" dirty="0"/>
              <a:t>💾 </a:t>
            </a:r>
            <a:r>
              <a:rPr lang="en-IN" sz="2400" b="1" dirty="0"/>
              <a:t>freeTree()</a:t>
            </a:r>
            <a:r>
              <a:rPr lang="en-IN" sz="2400" dirty="0"/>
              <a:t> – Frees all allocated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39994" y="381847"/>
            <a:ext cx="36542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dirty="0"/>
              <a:t>Working of the System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59" y="905067"/>
            <a:ext cx="10515600" cy="492442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lang="en-IN" dirty="0"/>
              <a:t>↓</a:t>
            </a:r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lang="en-IN" dirty="0"/>
              <a:t>↓</a:t>
            </a:r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endParaRPr lang="en-IN" dirty="0"/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dirty="0"/>
              <a:t>↓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↓</a:t>
            </a:r>
          </a:p>
          <a:p>
            <a:pPr algn="ctr"/>
            <a:endParaRPr dirty="0"/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endParaRPr lang="en-IN" dirty="0"/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dirty="0"/>
              <a:t>↓</a:t>
            </a:r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endParaRPr lang="en-IN" dirty="0"/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lang="en-IN" dirty="0"/>
              <a:t>↓</a:t>
            </a:r>
          </a:p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lang="en-IN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38D880-91E6-5C1F-F1E5-0F922D9FC346}"/>
              </a:ext>
            </a:extLst>
          </p:cNvPr>
          <p:cNvSpPr/>
          <p:nvPr/>
        </p:nvSpPr>
        <p:spPr>
          <a:xfrm>
            <a:off x="5319006" y="851680"/>
            <a:ext cx="1445342" cy="5232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lang="en-IN" dirty="0"/>
              <a:t>START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041D11-D098-243A-2B51-11863F768893}"/>
              </a:ext>
            </a:extLst>
          </p:cNvPr>
          <p:cNvSpPr/>
          <p:nvPr/>
        </p:nvSpPr>
        <p:spPr>
          <a:xfrm>
            <a:off x="5358089" y="1655034"/>
            <a:ext cx="1445342" cy="5899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EEC490-A934-3553-774E-CA58A3537095}"/>
              </a:ext>
            </a:extLst>
          </p:cNvPr>
          <p:cNvSpPr txBox="1"/>
          <p:nvPr/>
        </p:nvSpPr>
        <p:spPr>
          <a:xfrm>
            <a:off x="5358089" y="1626836"/>
            <a:ext cx="1367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Display Menu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CAE46B-2FB8-4DE1-44C5-64C63FB0A995}"/>
              </a:ext>
            </a:extLst>
          </p:cNvPr>
          <p:cNvSpPr/>
          <p:nvPr/>
        </p:nvSpPr>
        <p:spPr>
          <a:xfrm>
            <a:off x="5358089" y="2578847"/>
            <a:ext cx="1445342" cy="5232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40CE2-E8A4-DD6B-DADD-27ECACCF1B01}"/>
              </a:ext>
            </a:extLst>
          </p:cNvPr>
          <p:cNvSpPr txBox="1"/>
          <p:nvPr/>
        </p:nvSpPr>
        <p:spPr>
          <a:xfrm>
            <a:off x="5358089" y="2513798"/>
            <a:ext cx="1445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Perform</a:t>
            </a:r>
          </a:p>
          <a:p>
            <a:pPr algn="ctr"/>
            <a:r>
              <a:rPr lang="en-IN" dirty="0"/>
              <a:t> Operation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B88E1E-4D7C-977C-579C-78B6098E78B3}"/>
              </a:ext>
            </a:extLst>
          </p:cNvPr>
          <p:cNvSpPr/>
          <p:nvPr/>
        </p:nvSpPr>
        <p:spPr>
          <a:xfrm>
            <a:off x="5358090" y="3553701"/>
            <a:ext cx="1445341" cy="5232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EB9EA0-78CF-C79F-0E60-B42D7A522E74}"/>
              </a:ext>
            </a:extLst>
          </p:cNvPr>
          <p:cNvSpPr txBox="1"/>
          <p:nvPr/>
        </p:nvSpPr>
        <p:spPr>
          <a:xfrm>
            <a:off x="5415925" y="3484959"/>
            <a:ext cx="1561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Update book 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595E6E-6A7F-5B81-930B-EB3FAEED5604}"/>
              </a:ext>
            </a:extLst>
          </p:cNvPr>
          <p:cNvSpPr/>
          <p:nvPr/>
        </p:nvSpPr>
        <p:spPr>
          <a:xfrm>
            <a:off x="5358091" y="4465822"/>
            <a:ext cx="1445340" cy="5160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538739-6844-5F19-183C-B0A06736C272}"/>
              </a:ext>
            </a:extLst>
          </p:cNvPr>
          <p:cNvSpPr txBox="1"/>
          <p:nvPr/>
        </p:nvSpPr>
        <p:spPr>
          <a:xfrm>
            <a:off x="5415925" y="4400693"/>
            <a:ext cx="1445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lang="en-IN" dirty="0"/>
              <a:t>Return to Menu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449B07-C4B9-AEBA-EB8C-B0C040EC8175}"/>
              </a:ext>
            </a:extLst>
          </p:cNvPr>
          <p:cNvSpPr/>
          <p:nvPr/>
        </p:nvSpPr>
        <p:spPr>
          <a:xfrm>
            <a:off x="5415925" y="5329084"/>
            <a:ext cx="1387505" cy="5004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0D4631-7F99-8B74-C2A3-1234D64D6549}"/>
              </a:ext>
            </a:extLst>
          </p:cNvPr>
          <p:cNvSpPr txBox="1"/>
          <p:nvPr/>
        </p:nvSpPr>
        <p:spPr>
          <a:xfrm>
            <a:off x="5757794" y="5380631"/>
            <a:ext cx="1197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EXIT</a:t>
            </a:r>
          </a:p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7B3573-ECF9-B132-D087-AE42382BF61C}"/>
              </a:ext>
            </a:extLst>
          </p:cNvPr>
          <p:cNvSpPr txBox="1"/>
          <p:nvPr/>
        </p:nvSpPr>
        <p:spPr>
          <a:xfrm rot="16200000">
            <a:off x="7030737" y="2537123"/>
            <a:ext cx="379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↓</a:t>
            </a:r>
          </a:p>
          <a:p>
            <a:endParaRPr lang="en-IN" dirty="0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5B2A592C-1654-429F-3FD0-77E77BC88177}"/>
              </a:ext>
            </a:extLst>
          </p:cNvPr>
          <p:cNvSpPr/>
          <p:nvPr/>
        </p:nvSpPr>
        <p:spPr>
          <a:xfrm>
            <a:off x="7381163" y="1963984"/>
            <a:ext cx="1866010" cy="172355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I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F60D43-394D-0354-E29F-F45239F32590}"/>
              </a:ext>
            </a:extLst>
          </p:cNvPr>
          <p:cNvSpPr txBox="1"/>
          <p:nvPr/>
        </p:nvSpPr>
        <p:spPr>
          <a:xfrm>
            <a:off x="7735213" y="2087096"/>
            <a:ext cx="11579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  Add /</a:t>
            </a:r>
          </a:p>
          <a:p>
            <a:pPr algn="ctr"/>
            <a:r>
              <a:rPr lang="en-IN" sz="1400" dirty="0"/>
              <a:t>    Search /</a:t>
            </a:r>
          </a:p>
          <a:p>
            <a:pPr algn="ctr"/>
            <a:r>
              <a:rPr lang="en-IN" sz="1400" dirty="0"/>
              <a:t>   Delete /</a:t>
            </a:r>
          </a:p>
          <a:p>
            <a:pPr algn="ctr"/>
            <a:r>
              <a:rPr lang="en-IN" sz="1400" dirty="0"/>
              <a:t>    Display /</a:t>
            </a:r>
          </a:p>
          <a:p>
            <a:pPr algn="ctr"/>
            <a:r>
              <a:rPr lang="en-IN" sz="1400" dirty="0"/>
              <a:t>Issue /</a:t>
            </a:r>
          </a:p>
          <a:p>
            <a:pPr algn="ctr"/>
            <a:r>
              <a:rPr lang="en-IN" sz="1400" dirty="0"/>
              <a:t>Return</a:t>
            </a:r>
          </a:p>
          <a:p>
            <a:endParaRPr lang="en-I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24368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dirty="0"/>
              <a:t>Sample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BEC88A-0211-7DA7-8D98-AA5EFD005E9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88776" y="1462039"/>
            <a:ext cx="3930598" cy="317018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C3BAA6-77AE-A33E-57EC-3C6B3F253324}"/>
              </a:ext>
            </a:extLst>
          </p:cNvPr>
          <p:cNvSpPr txBox="1"/>
          <p:nvPr/>
        </p:nvSpPr>
        <p:spPr>
          <a:xfrm>
            <a:off x="3696929" y="4955458"/>
            <a:ext cx="39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MENU SCREEN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882C4-0D23-1188-3039-BC4AF317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852" y="1505653"/>
            <a:ext cx="3822445" cy="3082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328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40623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dirty="0"/>
              <a:t>Advantages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07776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lang="en-US" sz="2400" dirty="0"/>
              <a:t> </a:t>
            </a:r>
            <a:r>
              <a:rPr sz="2400" dirty="0"/>
              <a:t>⏱  Saves time compared with sequential record checking.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⚡ Efficient average-case search, insertion and deletion.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📋 </a:t>
            </a:r>
            <a:r>
              <a:rPr sz="2400" dirty="0" err="1"/>
              <a:t>Inorder</a:t>
            </a:r>
            <a:r>
              <a:rPr sz="2400" dirty="0"/>
              <a:t> traversal automatically gives sorted Book IDs.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🧠 Demonstrates important DSA concepts in a real-world application.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💾 Dynamic allocation allows the number of nodes to grow or shrink.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sz="2400" dirty="0"/>
              <a:t>🖥  Simple console-based interface for academic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83626"/>
            <a:ext cx="21313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rPr dirty="0"/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60098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Use AVL Tree or Red-Black Tree for guaranteed logarithmic height.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Add file handling or relational database storage.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Add student/member records and due dates.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Add fine calculation and reservation support.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Add search by title or author.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Develop a graphical or web-based interface.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rPr sz="2400" dirty="0"/>
              <a:t>🔹 Add authentication and multi-user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64592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6639" y="1369093"/>
            <a:ext cx="21339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/>
              <a:t> 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631" y="2309105"/>
            <a:ext cx="10515600" cy="267765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lvl="0"/>
            <a:r>
              <a:rPr lang="en-IN" sz="2400" dirty="0"/>
              <a:t>🌳 The system demonstrates the practical use of a </a:t>
            </a:r>
            <a:r>
              <a:rPr lang="en-IN" sz="2400" b="1" dirty="0"/>
              <a:t>Binary Search Tree (BST)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📖 It supports </a:t>
            </a:r>
            <a:r>
              <a:rPr lang="en-IN" sz="2400" b="1" dirty="0"/>
              <a:t>insert, search, delete, display, issue, and return</a:t>
            </a:r>
            <a:r>
              <a:rPr lang="en-IN" sz="2400" dirty="0"/>
              <a:t> operations. </a:t>
            </a:r>
          </a:p>
          <a:p>
            <a:pPr lvl="0"/>
            <a:r>
              <a:rPr lang="en-IN" sz="2400" dirty="0"/>
              <a:t>💻 It demonstrates </a:t>
            </a:r>
            <a:r>
              <a:rPr lang="en-IN" sz="2400" b="1" dirty="0"/>
              <a:t>structures, pointers, recursion, and dynamic memory </a:t>
            </a:r>
          </a:p>
          <a:p>
            <a:pPr lvl="0"/>
            <a:r>
              <a:rPr lang="en-IN" sz="2400" b="1" dirty="0"/>
              <a:t>        allocation.</a:t>
            </a:r>
            <a:endParaRPr lang="en-IN" sz="2400" dirty="0"/>
          </a:p>
          <a:p>
            <a:pPr lvl="0"/>
            <a:r>
              <a:rPr lang="en-IN" sz="2400" dirty="0"/>
              <a:t>⚡ BST operations take </a:t>
            </a:r>
            <a:r>
              <a:rPr lang="en-IN" sz="2400" b="1" dirty="0"/>
              <a:t>O(log n)</a:t>
            </a:r>
            <a:r>
              <a:rPr lang="en-IN" sz="2400" dirty="0"/>
              <a:t> on average and </a:t>
            </a:r>
            <a:r>
              <a:rPr lang="en-IN" sz="2400" b="1" dirty="0"/>
              <a:t>O(n)</a:t>
            </a:r>
            <a:r>
              <a:rPr lang="en-IN" sz="2400" dirty="0"/>
              <a:t> in the worst case. </a:t>
            </a:r>
          </a:p>
          <a:p>
            <a:pPr lvl="0"/>
            <a:r>
              <a:rPr lang="en-IN" sz="2400" dirty="0"/>
              <a:t>🚀 The system can be extended with </a:t>
            </a:r>
            <a:r>
              <a:rPr lang="en-IN" sz="2400" b="1" dirty="0"/>
              <a:t>file storage, balanced trees, and a GUI</a:t>
            </a:r>
            <a:r>
              <a:rPr lang="en-IN" sz="2400" dirty="0"/>
              <a:t>. 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41216" y="2736502"/>
            <a:ext cx="71095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sz="9600" dirty="0"/>
              <a:t>THANK YOU</a:t>
            </a:r>
            <a:endParaRPr lang="en-IN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680</Words>
  <Application>Microsoft Office PowerPoint</Application>
  <PresentationFormat>Widescreen</PresentationFormat>
  <Paragraphs>124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Jahnavi Srikakulam</dc:creator>
  <cp:keywords/>
  <dc:description>generated using python-pptx</dc:description>
  <cp:lastModifiedBy>sklmjahnavi@gmail.com</cp:lastModifiedBy>
  <cp:revision>4</cp:revision>
  <dcterms:created xsi:type="dcterms:W3CDTF">2013-01-27T09:14:16Z</dcterms:created>
  <dcterms:modified xsi:type="dcterms:W3CDTF">2026-10-09T01:18:57Z</dcterms:modified>
  <cp:category/>
</cp:coreProperties>
</file>